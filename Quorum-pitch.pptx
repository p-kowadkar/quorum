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02336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500" kern="0" dirty="0">
                <a:solidFill>
                  <a:srgbClr val="34D39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777240" y="1078992"/>
            <a:ext cx="80467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E7E9E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room of agents</a:t>
            </a:r>
            <a:endParaRPr lang="en-US" sz="5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5200" b="1" dirty="0">
                <a:solidFill>
                  <a:srgbClr val="E7E9E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on-call.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777240" y="3401568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dirty="0">
                <a:solidFill>
                  <a:srgbClr val="9BA1A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Specialist AI agents convene in your Telegram group, debate the fix out loud, and ship only when you approve by voice.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1133856" y="4617720"/>
            <a:ext cx="201168" cy="2011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4828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BA1A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236976" y="4617720"/>
            <a:ext cx="201168" cy="20116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8" name="Text 6"/>
          <p:cNvSpPr/>
          <p:nvPr/>
        </p:nvSpPr>
        <p:spPr>
          <a:xfrm>
            <a:off x="2423160" y="4828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BA1A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RootCause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40096" y="4617720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0" name="Text 8"/>
          <p:cNvSpPr/>
          <p:nvPr/>
        </p:nvSpPr>
        <p:spPr>
          <a:xfrm>
            <a:off x="4526280" y="4828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BA1A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Coder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7443216" y="4617720"/>
            <a:ext cx="201168" cy="201168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2" name="Text 10"/>
          <p:cNvSpPr/>
          <p:nvPr/>
        </p:nvSpPr>
        <p:spPr>
          <a:xfrm>
            <a:off x="6629400" y="4828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BA1A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Critic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546336" y="4617720"/>
            <a:ext cx="201168" cy="201168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4" name="Text 12"/>
          <p:cNvSpPr/>
          <p:nvPr/>
        </p:nvSpPr>
        <p:spPr>
          <a:xfrm>
            <a:off x="8732520" y="482803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spc="100" kern="0" dirty="0">
                <a:solidFill>
                  <a:srgbClr val="9BA1A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Project Manager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BA1A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incident response · multi-agent · in Telegram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56692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On-call is a</a:t>
            </a:r>
            <a:endParaRPr lang="en-US" sz="40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 a.m. lookup table.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880360"/>
            <a:ext cx="5852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Today's on-call bots map an error code to one branch — rollback or escalate. They don't read your trace. They don't know your service. At 3 a.m., you're the one deciding alone.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766560" y="777240"/>
            <a:ext cx="470916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059168" y="91440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97A0A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TODAY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7059168" y="1298448"/>
            <a:ext cx="164592" cy="164592"/>
          </a:xfrm>
          <a:prstGeom prst="ellipse">
            <a:avLst/>
          </a:prstGeom>
          <a:solidFill>
            <a:srgbClr val="97A0AD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0" y="125272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 bot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059168" y="1627632"/>
            <a:ext cx="4114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if error → rollback / escalate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66560" y="3547872"/>
            <a:ext cx="4709160" cy="2514600"/>
          </a:xfrm>
          <a:prstGeom prst="roundRect">
            <a:avLst>
              <a:gd name="adj" fmla="val 5091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059168" y="369417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059168" y="4096512"/>
            <a:ext cx="164592" cy="164592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Shape 11"/>
          <p:cNvSpPr/>
          <p:nvPr/>
        </p:nvSpPr>
        <p:spPr>
          <a:xfrm>
            <a:off x="7351776" y="4096512"/>
            <a:ext cx="164592" cy="164592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4" name="Shape 12"/>
          <p:cNvSpPr/>
          <p:nvPr/>
        </p:nvSpPr>
        <p:spPr>
          <a:xfrm>
            <a:off x="7644384" y="4096512"/>
            <a:ext cx="164592" cy="164592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5" name="Shape 13"/>
          <p:cNvSpPr/>
          <p:nvPr/>
        </p:nvSpPr>
        <p:spPr>
          <a:xfrm>
            <a:off x="7936992" y="4096512"/>
            <a:ext cx="164592" cy="164592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6" name="Shape 14"/>
          <p:cNvSpPr/>
          <p:nvPr/>
        </p:nvSpPr>
        <p:spPr>
          <a:xfrm>
            <a:off x="8229600" y="4096512"/>
            <a:ext cx="164592" cy="164592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7" name="Text 15"/>
          <p:cNvSpPr/>
          <p:nvPr/>
        </p:nvSpPr>
        <p:spPr>
          <a:xfrm>
            <a:off x="7059168" y="440740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5 specialists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59168" y="4718304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verdict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07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Your incident, argued out loud.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77240" y="20116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6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room of specialist agents convenes in your Telegram group, debates the fix in distinct voices, and rolls out only after you approve — by voice.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777240" y="3108960"/>
            <a:ext cx="3218688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069848" y="3456432"/>
            <a:ext cx="237744" cy="237744"/>
          </a:xfrm>
          <a:prstGeom prst="ellipse">
            <a:avLst/>
          </a:prstGeom>
          <a:solidFill>
            <a:srgbClr val="34D399"/>
          </a:solidFill>
          <a:ln/>
        </p:spPr>
      </p:sp>
      <p:sp>
        <p:nvSpPr>
          <p:cNvPr id="7" name="Text 5"/>
          <p:cNvSpPr/>
          <p:nvPr/>
        </p:nvSpPr>
        <p:spPr>
          <a:xfrm>
            <a:off x="1069848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33272" y="3858768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CONVENE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33272" y="4224528"/>
            <a:ext cx="2706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6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room assembles</a:t>
            </a:r>
            <a:endParaRPr lang="en-US" sz="16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6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 the alert.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3977640" y="437083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7A0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51960" y="3108960"/>
            <a:ext cx="3218688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544568" y="3456432"/>
            <a:ext cx="237744" cy="237744"/>
          </a:xfrm>
          <a:prstGeom prst="ellipse">
            <a:avLst/>
          </a:prstGeom>
          <a:solidFill>
            <a:srgbClr val="FBBF24"/>
          </a:solidFill>
          <a:ln/>
        </p:spPr>
      </p:sp>
      <p:sp>
        <p:nvSpPr>
          <p:cNvPr id="13" name="Text 11"/>
          <p:cNvSpPr/>
          <p:nvPr/>
        </p:nvSpPr>
        <p:spPr>
          <a:xfrm>
            <a:off x="4544568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07992" y="3858768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DEBATE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07992" y="4224528"/>
            <a:ext cx="2706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6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Distinct voices argue</a:t>
            </a:r>
            <a:endParaRPr lang="en-US" sz="16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6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 a verdict.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452360" y="437083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97A0AD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7726680" y="3108960"/>
            <a:ext cx="3218688" cy="2926080"/>
          </a:xfrm>
          <a:prstGeom prst="roundRect">
            <a:avLst>
              <a:gd name="adj" fmla="val 4375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019288" y="3456432"/>
            <a:ext cx="237744" cy="237744"/>
          </a:xfrm>
          <a:prstGeom prst="ellipse">
            <a:avLst/>
          </a:prstGeom>
          <a:solidFill>
            <a:srgbClr val="047857"/>
          </a:solidFill>
          <a:ln/>
        </p:spPr>
      </p:sp>
      <p:sp>
        <p:nvSpPr>
          <p:cNvPr id="19" name="Text 17"/>
          <p:cNvSpPr/>
          <p:nvPr/>
        </p:nvSpPr>
        <p:spPr>
          <a:xfrm>
            <a:off x="8019288" y="345643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982712" y="3858768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spc="2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APPROVE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982712" y="4224528"/>
            <a:ext cx="270662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4000"/>
              </a:lnSpc>
              <a:buNone/>
            </a:pPr>
            <a:r>
              <a:rPr lang="en-US" sz="16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sign off,</a:t>
            </a:r>
            <a:endParaRPr lang="en-US" sz="1600" dirty="0"/>
          </a:p>
          <a:p>
            <a:pPr algn="l" indent="0" marL="0">
              <a:lnSpc>
                <a:spcPct val="124000"/>
              </a:lnSpc>
              <a:buNone/>
            </a:pPr>
            <a:r>
              <a:rPr lang="en-US" sz="16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 loud.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CAST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10607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Five specialists. One shared blackboard.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777240" y="1920240"/>
            <a:ext cx="1965960" cy="40233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623060" y="2231136"/>
            <a:ext cx="274320" cy="27432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886968" y="2688336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Orchestrator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914400" y="3255264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Runs the room, hands off by name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348740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9" name="Text 7"/>
          <p:cNvSpPr/>
          <p:nvPr/>
        </p:nvSpPr>
        <p:spPr>
          <a:xfrm>
            <a:off x="1348740" y="54406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mid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926080" y="1920240"/>
            <a:ext cx="1965960" cy="40233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771900" y="2231136"/>
            <a:ext cx="274320" cy="274320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2" name="Text 10"/>
          <p:cNvSpPr/>
          <p:nvPr/>
        </p:nvSpPr>
        <p:spPr>
          <a:xfrm>
            <a:off x="3035808" y="2688336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RootCause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063240" y="3255264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Reads the stack trace, posts a hypothesis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97580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15" name="Text 13"/>
          <p:cNvSpPr/>
          <p:nvPr/>
        </p:nvSpPr>
        <p:spPr>
          <a:xfrm>
            <a:off x="3497580" y="54406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smart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74920" y="1920240"/>
            <a:ext cx="1965960" cy="40233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20740" y="2231136"/>
            <a:ext cx="274320" cy="27432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8" name="Text 16"/>
          <p:cNvSpPr/>
          <p:nvPr/>
        </p:nvSpPr>
        <p:spPr>
          <a:xfrm>
            <a:off x="5184648" y="2688336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212080" y="3255264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Drafts the patch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46420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21" name="Text 19"/>
          <p:cNvSpPr/>
          <p:nvPr/>
        </p:nvSpPr>
        <p:spPr>
          <a:xfrm>
            <a:off x="5646420" y="54406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smart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7223760" y="1920240"/>
            <a:ext cx="1965960" cy="40233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8069580" y="2231136"/>
            <a:ext cx="274320" cy="274320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24" name="Text 22"/>
          <p:cNvSpPr/>
          <p:nvPr/>
        </p:nvSpPr>
        <p:spPr>
          <a:xfrm>
            <a:off x="7333488" y="2688336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Critic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360920" y="3255264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Production-ready? Verdict + confidence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7795260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27" name="Text 25"/>
          <p:cNvSpPr/>
          <p:nvPr/>
        </p:nvSpPr>
        <p:spPr>
          <a:xfrm>
            <a:off x="7795260" y="54406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smart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9372600" y="1920240"/>
            <a:ext cx="1965960" cy="4023360"/>
          </a:xfrm>
          <a:prstGeom prst="roundRect">
            <a:avLst>
              <a:gd name="adj" fmla="val 6512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29" name="Shape 27"/>
          <p:cNvSpPr/>
          <p:nvPr/>
        </p:nvSpPr>
        <p:spPr>
          <a:xfrm>
            <a:off x="10218420" y="2231136"/>
            <a:ext cx="274320" cy="274320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30" name="Text 28"/>
          <p:cNvSpPr/>
          <p:nvPr/>
        </p:nvSpPr>
        <p:spPr>
          <a:xfrm>
            <a:off x="9482328" y="2688336"/>
            <a:ext cx="174650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Project Manager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9509760" y="3255264"/>
            <a:ext cx="1691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Files the ticket, then steps back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9944100" y="5440680"/>
            <a:ext cx="822960" cy="310896"/>
          </a:xfrm>
          <a:prstGeom prst="roundRect">
            <a:avLst>
              <a:gd name="adj" fmla="val 50000"/>
            </a:avLst>
          </a:prstGeom>
          <a:solidFill>
            <a:srgbClr val="EEF0F3"/>
          </a:solidFill>
          <a:ln/>
        </p:spPr>
      </p:sp>
      <p:sp>
        <p:nvSpPr>
          <p:cNvPr id="33" name="Text 31"/>
          <p:cNvSpPr/>
          <p:nvPr/>
        </p:nvSpPr>
        <p:spPr>
          <a:xfrm>
            <a:off x="9944100" y="5440680"/>
            <a:ext cx="822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cheap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502920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41248"/>
            <a:ext cx="51206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shared session.</a:t>
            </a:r>
            <a:endParaRPr lang="en-US" sz="36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6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No crossed wires.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77240" y="2633472"/>
            <a:ext cx="466344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Every agent reads and writes a single session object — the trace, posted hypotheses, the draft patch, the verdict. The Orchestrator sequences who speaks. Specialists never message each other directly.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92240" y="1078992"/>
            <a:ext cx="201168" cy="2011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6766560" y="1060704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Orchestrator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6693408" y="1179576"/>
            <a:ext cx="2450592" cy="2221992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92240" y="2103120"/>
            <a:ext cx="201168" cy="20116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6766560" y="2084832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RootCause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693408" y="2203704"/>
            <a:ext cx="2450592" cy="1197864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92240" y="3127248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12" name="Text 10"/>
          <p:cNvSpPr/>
          <p:nvPr/>
        </p:nvSpPr>
        <p:spPr>
          <a:xfrm>
            <a:off x="6766560" y="3108960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Coder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693408" y="3227832"/>
            <a:ext cx="2450592" cy="173736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92240" y="4151376"/>
            <a:ext cx="201168" cy="201168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5" name="Text 13"/>
          <p:cNvSpPr/>
          <p:nvPr/>
        </p:nvSpPr>
        <p:spPr>
          <a:xfrm>
            <a:off x="6766560" y="4133088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Critic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 flipV="1">
            <a:off x="6693408" y="3401568"/>
            <a:ext cx="2450592" cy="850392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92240" y="5175504"/>
            <a:ext cx="201168" cy="201168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18" name="Text 16"/>
          <p:cNvSpPr/>
          <p:nvPr/>
        </p:nvSpPr>
        <p:spPr>
          <a:xfrm>
            <a:off x="6766560" y="5157216"/>
            <a:ext cx="21031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Project Manager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 flipV="1">
            <a:off x="6693408" y="3401568"/>
            <a:ext cx="2450592" cy="187452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4000" y="2487168"/>
            <a:ext cx="233172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047857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9144000" y="2779776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spc="300" kern="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SESSION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308592" y="3200400"/>
            <a:ext cx="20025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trace · hypotheses</a:t>
            </a:r>
            <a:endParaRPr lang="en-US" sz="10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· verdict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WHAT WINS THE ROOM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53035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Four voices.</a:t>
            </a:r>
            <a:endParaRPr lang="en-US" sz="38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8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verdict.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777240" y="2724912"/>
            <a:ext cx="45720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RootCause posts the hypothesis. Coder drafts the patch. Critic asks whether it survives a traffic spike. They go a round — and it lands at a confidence you can hear.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126480" y="685800"/>
            <a:ext cx="5394960" cy="5394960"/>
          </a:xfrm>
          <a:prstGeom prst="roundRect">
            <a:avLst>
              <a:gd name="adj" fmla="val 3051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19088" y="941832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7A0A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LIVE DEBATE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6419088" y="1307592"/>
            <a:ext cx="4809744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73952" y="1563624"/>
            <a:ext cx="146304" cy="146304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9" name="Text 7"/>
          <p:cNvSpPr/>
          <p:nvPr/>
        </p:nvSpPr>
        <p:spPr>
          <a:xfrm>
            <a:off x="6693408" y="1527048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0891B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ROOTCAUSE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473952" y="1965960"/>
            <a:ext cx="59436" cy="9144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1" name="Shape 9"/>
          <p:cNvSpPr/>
          <p:nvPr/>
        </p:nvSpPr>
        <p:spPr>
          <a:xfrm>
            <a:off x="6565392" y="1856232"/>
            <a:ext cx="59436" cy="20116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2" name="Shape 10"/>
          <p:cNvSpPr/>
          <p:nvPr/>
        </p:nvSpPr>
        <p:spPr>
          <a:xfrm>
            <a:off x="6656832" y="1783080"/>
            <a:ext cx="59436" cy="27432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3" name="Shape 11"/>
          <p:cNvSpPr/>
          <p:nvPr/>
        </p:nvSpPr>
        <p:spPr>
          <a:xfrm>
            <a:off x="6748272" y="1892808"/>
            <a:ext cx="59436" cy="16459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4" name="Shape 12"/>
          <p:cNvSpPr/>
          <p:nvPr/>
        </p:nvSpPr>
        <p:spPr>
          <a:xfrm>
            <a:off x="6839712" y="1709928"/>
            <a:ext cx="59436" cy="347472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5" name="Shape 13"/>
          <p:cNvSpPr/>
          <p:nvPr/>
        </p:nvSpPr>
        <p:spPr>
          <a:xfrm>
            <a:off x="6931152" y="1819656"/>
            <a:ext cx="59436" cy="237744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6" name="Shape 14"/>
          <p:cNvSpPr/>
          <p:nvPr/>
        </p:nvSpPr>
        <p:spPr>
          <a:xfrm>
            <a:off x="7022592" y="1929384"/>
            <a:ext cx="59436" cy="12801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7" name="Shape 15"/>
          <p:cNvSpPr/>
          <p:nvPr/>
        </p:nvSpPr>
        <p:spPr>
          <a:xfrm>
            <a:off x="7114032" y="1746504"/>
            <a:ext cx="59436" cy="310896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8" name="Shape 16"/>
          <p:cNvSpPr/>
          <p:nvPr/>
        </p:nvSpPr>
        <p:spPr>
          <a:xfrm>
            <a:off x="7205472" y="1874520"/>
            <a:ext cx="59436" cy="182880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19" name="Shape 17"/>
          <p:cNvSpPr/>
          <p:nvPr/>
        </p:nvSpPr>
        <p:spPr>
          <a:xfrm>
            <a:off x="7296912" y="1947672"/>
            <a:ext cx="59436" cy="109728"/>
          </a:xfrm>
          <a:prstGeom prst="rect">
            <a:avLst/>
          </a:prstGeom>
          <a:solidFill>
            <a:srgbClr val="0891B2"/>
          </a:solidFill>
          <a:ln/>
        </p:spPr>
      </p:sp>
      <p:sp>
        <p:nvSpPr>
          <p:cNvPr id="20" name="Shape 18"/>
          <p:cNvSpPr/>
          <p:nvPr/>
        </p:nvSpPr>
        <p:spPr>
          <a:xfrm>
            <a:off x="6419088" y="2660904"/>
            <a:ext cx="4809744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73952" y="2862072"/>
            <a:ext cx="146304" cy="146304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2" name="Text 20"/>
          <p:cNvSpPr/>
          <p:nvPr/>
        </p:nvSpPr>
        <p:spPr>
          <a:xfrm>
            <a:off x="6693408" y="2825496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7C3AE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CODER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6473952" y="3264408"/>
            <a:ext cx="59436" cy="9144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Shape 22"/>
          <p:cNvSpPr/>
          <p:nvPr/>
        </p:nvSpPr>
        <p:spPr>
          <a:xfrm>
            <a:off x="6565392" y="3154680"/>
            <a:ext cx="59436" cy="20116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5" name="Shape 23"/>
          <p:cNvSpPr/>
          <p:nvPr/>
        </p:nvSpPr>
        <p:spPr>
          <a:xfrm>
            <a:off x="6656832" y="3081528"/>
            <a:ext cx="59436" cy="27432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6" name="Shape 24"/>
          <p:cNvSpPr/>
          <p:nvPr/>
        </p:nvSpPr>
        <p:spPr>
          <a:xfrm>
            <a:off x="6748272" y="3191256"/>
            <a:ext cx="59436" cy="16459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7" name="Shape 25"/>
          <p:cNvSpPr/>
          <p:nvPr/>
        </p:nvSpPr>
        <p:spPr>
          <a:xfrm>
            <a:off x="6839712" y="3008376"/>
            <a:ext cx="59436" cy="347472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8" name="Shape 26"/>
          <p:cNvSpPr/>
          <p:nvPr/>
        </p:nvSpPr>
        <p:spPr>
          <a:xfrm>
            <a:off x="6931152" y="3118104"/>
            <a:ext cx="59436" cy="237744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9" name="Shape 27"/>
          <p:cNvSpPr/>
          <p:nvPr/>
        </p:nvSpPr>
        <p:spPr>
          <a:xfrm>
            <a:off x="7022592" y="3227832"/>
            <a:ext cx="59436" cy="12801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0" name="Shape 28"/>
          <p:cNvSpPr/>
          <p:nvPr/>
        </p:nvSpPr>
        <p:spPr>
          <a:xfrm>
            <a:off x="7114032" y="3044952"/>
            <a:ext cx="59436" cy="310896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1" name="Shape 29"/>
          <p:cNvSpPr/>
          <p:nvPr/>
        </p:nvSpPr>
        <p:spPr>
          <a:xfrm>
            <a:off x="7205472" y="3172968"/>
            <a:ext cx="59436" cy="18288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2" name="Shape 30"/>
          <p:cNvSpPr/>
          <p:nvPr/>
        </p:nvSpPr>
        <p:spPr>
          <a:xfrm>
            <a:off x="7296912" y="3246120"/>
            <a:ext cx="59436" cy="109728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33" name="Shape 31"/>
          <p:cNvSpPr/>
          <p:nvPr/>
        </p:nvSpPr>
        <p:spPr>
          <a:xfrm>
            <a:off x="6419088" y="3959352"/>
            <a:ext cx="4809744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473952" y="4160520"/>
            <a:ext cx="146304" cy="146304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35" name="Text 33"/>
          <p:cNvSpPr/>
          <p:nvPr/>
        </p:nvSpPr>
        <p:spPr>
          <a:xfrm>
            <a:off x="6693408" y="4123944"/>
            <a:ext cx="201168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150" kern="0" dirty="0">
                <a:solidFill>
                  <a:srgbClr val="E11D4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CRITIC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473952" y="4562856"/>
            <a:ext cx="59436" cy="9144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7" name="Shape 35"/>
          <p:cNvSpPr/>
          <p:nvPr/>
        </p:nvSpPr>
        <p:spPr>
          <a:xfrm>
            <a:off x="6565392" y="4453128"/>
            <a:ext cx="59436" cy="20116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8" name="Shape 36"/>
          <p:cNvSpPr/>
          <p:nvPr/>
        </p:nvSpPr>
        <p:spPr>
          <a:xfrm>
            <a:off x="6656832" y="4379976"/>
            <a:ext cx="59436" cy="27432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39" name="Shape 37"/>
          <p:cNvSpPr/>
          <p:nvPr/>
        </p:nvSpPr>
        <p:spPr>
          <a:xfrm>
            <a:off x="6748272" y="4489704"/>
            <a:ext cx="59436" cy="16459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0" name="Shape 38"/>
          <p:cNvSpPr/>
          <p:nvPr/>
        </p:nvSpPr>
        <p:spPr>
          <a:xfrm>
            <a:off x="6839712" y="4306824"/>
            <a:ext cx="59436" cy="347472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1" name="Shape 39"/>
          <p:cNvSpPr/>
          <p:nvPr/>
        </p:nvSpPr>
        <p:spPr>
          <a:xfrm>
            <a:off x="6931152" y="4416552"/>
            <a:ext cx="59436" cy="237744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2" name="Shape 40"/>
          <p:cNvSpPr/>
          <p:nvPr/>
        </p:nvSpPr>
        <p:spPr>
          <a:xfrm>
            <a:off x="7022592" y="4526280"/>
            <a:ext cx="59436" cy="128016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3" name="Shape 41"/>
          <p:cNvSpPr/>
          <p:nvPr/>
        </p:nvSpPr>
        <p:spPr>
          <a:xfrm>
            <a:off x="7114032" y="4343400"/>
            <a:ext cx="59436" cy="310896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4" name="Shape 42"/>
          <p:cNvSpPr/>
          <p:nvPr/>
        </p:nvSpPr>
        <p:spPr>
          <a:xfrm>
            <a:off x="7205472" y="4471416"/>
            <a:ext cx="59436" cy="182880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5" name="Shape 43"/>
          <p:cNvSpPr/>
          <p:nvPr/>
        </p:nvSpPr>
        <p:spPr>
          <a:xfrm>
            <a:off x="7296912" y="4544568"/>
            <a:ext cx="59436" cy="109728"/>
          </a:xfrm>
          <a:prstGeom prst="rect">
            <a:avLst/>
          </a:prstGeom>
          <a:solidFill>
            <a:srgbClr val="E11D48"/>
          </a:solidFill>
          <a:ln/>
        </p:spPr>
      </p:sp>
      <p:sp>
        <p:nvSpPr>
          <p:cNvPr id="46" name="Shape 44"/>
          <p:cNvSpPr/>
          <p:nvPr/>
        </p:nvSpPr>
        <p:spPr>
          <a:xfrm>
            <a:off x="6419088" y="5349240"/>
            <a:ext cx="4809744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6473952" y="5513832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48" name="Text 46"/>
          <p:cNvSpPr/>
          <p:nvPr/>
        </p:nvSpPr>
        <p:spPr>
          <a:xfrm>
            <a:off x="6473952" y="5513832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confidence 0.78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8339328" y="5513832"/>
            <a:ext cx="274320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Critic cleared. Vote unanimous.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7A0A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 · specialist agents, audible debate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GOLD FEATURE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804672"/>
            <a:ext cx="51206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won't ship if</a:t>
            </a:r>
            <a:endParaRPr lang="en-US" sz="34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don't sound sure.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777240" y="2816352"/>
            <a:ext cx="45720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5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When the room is ready, it asks you to approve out loud. If your voice wavers, the gate holds — "You don't sound sure. Hold?" Steady, and it ships.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035040" y="621792"/>
            <a:ext cx="5577840" cy="1152144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/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236208" y="82296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7" name="Text 5"/>
          <p:cNvSpPr/>
          <p:nvPr/>
        </p:nvSpPr>
        <p:spPr>
          <a:xfrm>
            <a:off x="6236208" y="82296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unsure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187184" y="786384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“yeah… I guess… go ahead”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36208" y="1280160"/>
            <a:ext cx="3657600" cy="146304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10" name="Shape 8"/>
          <p:cNvSpPr/>
          <p:nvPr/>
        </p:nvSpPr>
        <p:spPr>
          <a:xfrm>
            <a:off x="6236208" y="1280160"/>
            <a:ext cx="1133856" cy="146304"/>
          </a:xfrm>
          <a:prstGeom prst="rect">
            <a:avLst/>
          </a:prstGeom>
          <a:solidFill>
            <a:srgbClr val="B45309"/>
          </a:solidFill>
          <a:ln/>
        </p:spPr>
      </p:sp>
      <p:sp>
        <p:nvSpPr>
          <p:cNvPr id="11" name="Text 9"/>
          <p:cNvSpPr/>
          <p:nvPr/>
        </p:nvSpPr>
        <p:spPr>
          <a:xfrm>
            <a:off x="9966960" y="1225296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31%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035040" y="1975104"/>
            <a:ext cx="5577840" cy="1152144"/>
          </a:xfrm>
          <a:prstGeom prst="roundRect">
            <a:avLst>
              <a:gd name="adj" fmla="val 11111"/>
            </a:avLst>
          </a:prstGeom>
          <a:solidFill>
            <a:srgbClr val="FFFBEB"/>
          </a:solidFill>
          <a:ln/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236208" y="2176272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14" name="Text 12"/>
          <p:cNvSpPr/>
          <p:nvPr/>
        </p:nvSpPr>
        <p:spPr>
          <a:xfrm>
            <a:off x="6236208" y="2176272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holding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7187184" y="2139696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don't sound sure. Hold?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36208" y="2633472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Emotion gate: confidence below threshold.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035040" y="3328416"/>
            <a:ext cx="5577840" cy="1152144"/>
          </a:xfrm>
          <a:prstGeom prst="roundRect">
            <a:avLst>
              <a:gd name="adj" fmla="val 11111"/>
            </a:avLst>
          </a:prstGeom>
          <a:solidFill>
            <a:srgbClr val="F0FDF4"/>
          </a:solidFill>
          <a:ln/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36208" y="3529584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19" name="Text 17"/>
          <p:cNvSpPr/>
          <p:nvPr/>
        </p:nvSpPr>
        <p:spPr>
          <a:xfrm>
            <a:off x="6236208" y="352958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clear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7187184" y="3493008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“Ship it.”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6236208" y="3986784"/>
            <a:ext cx="3657600" cy="146304"/>
          </a:xfrm>
          <a:prstGeom prst="rect">
            <a:avLst/>
          </a:prstGeom>
          <a:solidFill>
            <a:srgbClr val="EEF0F3"/>
          </a:solidFill>
          <a:ln/>
        </p:spPr>
      </p:sp>
      <p:sp>
        <p:nvSpPr>
          <p:cNvPr id="22" name="Shape 20"/>
          <p:cNvSpPr/>
          <p:nvPr/>
        </p:nvSpPr>
        <p:spPr>
          <a:xfrm>
            <a:off x="6236208" y="3986784"/>
            <a:ext cx="3328416" cy="146304"/>
          </a:xfrm>
          <a:prstGeom prst="rect">
            <a:avLst/>
          </a:prstGeom>
          <a:solidFill>
            <a:srgbClr val="34D399"/>
          </a:solidFill>
          <a:ln/>
        </p:spPr>
      </p:sp>
      <p:sp>
        <p:nvSpPr>
          <p:cNvPr id="23" name="Text 21"/>
          <p:cNvSpPr/>
          <p:nvPr/>
        </p:nvSpPr>
        <p:spPr>
          <a:xfrm>
            <a:off x="9966960" y="3931920"/>
            <a:ext cx="548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91%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35040" y="4681728"/>
            <a:ext cx="5577840" cy="1152144"/>
          </a:xfrm>
          <a:prstGeom prst="roundRect">
            <a:avLst>
              <a:gd name="adj" fmla="val 11111"/>
            </a:avLst>
          </a:prstGeom>
          <a:solidFill>
            <a:srgbClr val="F0FDF4"/>
          </a:solidFill>
          <a:ln/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236208" y="4882896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26" name="Text 24"/>
          <p:cNvSpPr/>
          <p:nvPr/>
        </p:nvSpPr>
        <p:spPr>
          <a:xfrm>
            <a:off x="6236208" y="4882896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shipping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187184" y="4846320"/>
            <a:ext cx="420624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 cleared. Shipping.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236208" y="5340096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Rollback applied · GitHub issue filed · status updated.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7A0A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 · the gate holds until you're sure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THE WALK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From alert to mitigated — inside Telegram.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663675" y="3090672"/>
            <a:ext cx="8864346" cy="0"/>
          </a:xfrm>
          <a:prstGeom prst="line">
            <a:avLst/>
          </a:prstGeom>
          <a:noFill/>
          <a:ln w="25400">
            <a:solidFill>
              <a:srgbClr val="E8EA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07643" y="2834640"/>
            <a:ext cx="512064" cy="512064"/>
          </a:xfrm>
          <a:prstGeom prst="ellipse">
            <a:avLst/>
          </a:prstGeom>
          <a:solidFill>
            <a:srgbClr val="FEF3C7"/>
          </a:solidFill>
          <a:ln w="19050">
            <a:solidFill>
              <a:srgbClr val="FBBF2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407643" y="28346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4530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12697" y="3474720"/>
            <a:ext cx="170195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Alert fires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12697" y="3840480"/>
            <a:ext cx="170195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NightOwl fires the error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180512" y="2834640"/>
            <a:ext cx="512064" cy="512064"/>
          </a:xfrm>
          <a:prstGeom prst="ellipse">
            <a:avLst/>
          </a:prstGeom>
          <a:solidFill>
            <a:srgbClr val="EEF0F3"/>
          </a:solidFill>
          <a:ln w="19050">
            <a:solidFill>
              <a:srgbClr val="E8EA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180512" y="28346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585567" y="3474720"/>
            <a:ext cx="170195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Room convenes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585567" y="3840480"/>
            <a:ext cx="170195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Agents join Telegram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953381" y="2834640"/>
            <a:ext cx="512064" cy="512064"/>
          </a:xfrm>
          <a:prstGeom prst="ellipse">
            <a:avLst/>
          </a:prstGeom>
          <a:solidFill>
            <a:srgbClr val="EEF0F3"/>
          </a:solidFill>
          <a:ln w="19050">
            <a:solidFill>
              <a:srgbClr val="E8EA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53381" y="28346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358436" y="3474720"/>
            <a:ext cx="170195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Debate to a verdict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358436" y="3840480"/>
            <a:ext cx="170195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Confidence reaches 0.78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726250" y="2834640"/>
            <a:ext cx="512064" cy="512064"/>
          </a:xfrm>
          <a:prstGeom prst="ellipse">
            <a:avLst/>
          </a:prstGeom>
          <a:solidFill>
            <a:srgbClr val="EEF0F3"/>
          </a:solidFill>
          <a:ln w="19050">
            <a:solidFill>
              <a:srgbClr val="E8EA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726250" y="28346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131305" y="3474720"/>
            <a:ext cx="170195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Approve by voice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131305" y="3840480"/>
            <a:ext cx="170195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You say: Ship it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8499119" y="2834640"/>
            <a:ext cx="512064" cy="512064"/>
          </a:xfrm>
          <a:prstGeom prst="ellipse">
            <a:avLst/>
          </a:prstGeom>
          <a:solidFill>
            <a:srgbClr val="EEF0F3"/>
          </a:solidFill>
          <a:ln w="19050">
            <a:solidFill>
              <a:srgbClr val="E8EA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99119" y="28346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904174" y="3474720"/>
            <a:ext cx="170195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Rollback + issue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904174" y="3840480"/>
            <a:ext cx="1701954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GitHub PR auto-filed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271989" y="2834640"/>
            <a:ext cx="512064" cy="512064"/>
          </a:xfrm>
          <a:prstGeom prst="ellipse">
            <a:avLst/>
          </a:prstGeom>
          <a:solidFill>
            <a:srgbClr val="D1FAE5"/>
          </a:solidFill>
          <a:ln w="19050">
            <a:solidFill>
              <a:srgbClr val="34D399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271989" y="283464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6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77043" y="3474720"/>
            <a:ext cx="1701954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Status flips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9513037" y="38404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FEF3C7"/>
          </a:solidFill>
          <a:ln/>
        </p:spPr>
      </p:sp>
      <p:sp>
        <p:nvSpPr>
          <p:cNvPr id="29" name="Text 27"/>
          <p:cNvSpPr/>
          <p:nvPr/>
        </p:nvSpPr>
        <p:spPr>
          <a:xfrm>
            <a:off x="9513037" y="3840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B45309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degraded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0445725" y="3840480"/>
            <a:ext cx="182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→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10628605" y="3840480"/>
            <a:ext cx="914400" cy="274320"/>
          </a:xfrm>
          <a:prstGeom prst="roundRect">
            <a:avLst>
              <a:gd name="adj" fmla="val 50000"/>
            </a:avLst>
          </a:prstGeom>
          <a:solidFill>
            <a:srgbClr val="D1FAE5"/>
          </a:solidFill>
          <a:ln/>
        </p:spPr>
      </p:sp>
      <p:sp>
        <p:nvSpPr>
          <p:cNvPr id="32" name="Text 30"/>
          <p:cNvSpPr/>
          <p:nvPr/>
        </p:nvSpPr>
        <p:spPr>
          <a:xfrm>
            <a:off x="10628605" y="3840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47857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mitigated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7A0A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 · alert → debate → approve → ship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B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47548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spc="300" kern="0" dirty="0">
                <a:solidFill>
                  <a:srgbClr val="5A647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WHY IT HOLDS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77240" y="749808"/>
            <a:ext cx="9144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400" b="1" dirty="0">
                <a:solidFill>
                  <a:srgbClr val="0B0D1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topology is the reliability.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993392"/>
            <a:ext cx="3310128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96696" y="2231136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1197864" y="2139696"/>
            <a:ext cx="2798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Hierarchical orchestration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96696" y="2560320"/>
            <a:ext cx="2871216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96696" y="2651760"/>
            <a:ext cx="2871216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agent runs the room, hands off by name — no free-for-all.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440784" y="1993392"/>
            <a:ext cx="3310128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660240" y="2231136"/>
            <a:ext cx="128016" cy="128016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11" name="Text 9"/>
          <p:cNvSpPr/>
          <p:nvPr/>
        </p:nvSpPr>
        <p:spPr>
          <a:xfrm>
            <a:off x="4861408" y="2139696"/>
            <a:ext cx="2798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Adversarial debate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660240" y="2560320"/>
            <a:ext cx="2871216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0240" y="2651760"/>
            <a:ext cx="2871216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Actor–Critic loop: propose, challenge, revise until confidence clears.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104327" y="1993392"/>
            <a:ext cx="3310128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23783" y="2231136"/>
            <a:ext cx="128016" cy="128016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16" name="Text 14"/>
          <p:cNvSpPr/>
          <p:nvPr/>
        </p:nvSpPr>
        <p:spPr>
          <a:xfrm>
            <a:off x="8524951" y="2139696"/>
            <a:ext cx="2798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Event-driven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323783" y="2560320"/>
            <a:ext cx="2871216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323783" y="2651760"/>
            <a:ext cx="2871216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Fires on the incident, no polling. Idle cost: zero.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777240" y="3968496"/>
            <a:ext cx="3310128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996696" y="4206240"/>
            <a:ext cx="128016" cy="128016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1" name="Text 19"/>
          <p:cNvSpPr/>
          <p:nvPr/>
        </p:nvSpPr>
        <p:spPr>
          <a:xfrm>
            <a:off x="1197864" y="4114800"/>
            <a:ext cx="2798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Blackboard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996696" y="4535424"/>
            <a:ext cx="2871216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96696" y="4626864"/>
            <a:ext cx="2871216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One shared session — no peer-to-peer chatter, no drift.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440784" y="3968496"/>
            <a:ext cx="3310128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0240" y="4206240"/>
            <a:ext cx="128016" cy="128016"/>
          </a:xfrm>
          <a:prstGeom prst="ellipse">
            <a:avLst/>
          </a:prstGeom>
          <a:solidFill>
            <a:srgbClr val="475569"/>
          </a:solidFill>
          <a:ln/>
        </p:spPr>
      </p:sp>
      <p:sp>
        <p:nvSpPr>
          <p:cNvPr id="26" name="Text 24"/>
          <p:cNvSpPr/>
          <p:nvPr/>
        </p:nvSpPr>
        <p:spPr>
          <a:xfrm>
            <a:off x="4861408" y="4114800"/>
            <a:ext cx="279806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B0D12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Fail-closed gate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660240" y="4535424"/>
            <a:ext cx="2871216" cy="0"/>
          </a:xfrm>
          <a:prstGeom prst="line">
            <a:avLst/>
          </a:prstGeom>
          <a:noFill/>
          <a:ln w="12700">
            <a:solidFill>
              <a:srgbClr val="E8EA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660240" y="4626864"/>
            <a:ext cx="2871216" cy="9326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Won't ship below the confidence bar — or if you sound unsure.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8104327" y="3968496"/>
            <a:ext cx="3310128" cy="1719072"/>
          </a:xfrm>
          <a:prstGeom prst="roundRect">
            <a:avLst>
              <a:gd name="adj" fmla="val 7447"/>
            </a:avLst>
          </a:prstGeom>
          <a:solidFill>
            <a:srgbClr val="FFFFFF"/>
          </a:solidFill>
          <a:ln w="12700">
            <a:solidFill>
              <a:srgbClr val="E8EAEE"/>
            </a:solidFill>
            <a:prstDash val="solid"/>
          </a:ln>
          <a:effectLst>
            <a:outerShdw sx="100000" sy="100000" kx="0" ky="0" algn="bl" rotWithShape="0" blurRad="127000" dist="38100" dir="5400000">
              <a:srgbClr val="0B0D12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23783" y="4206240"/>
            <a:ext cx="128016" cy="128016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1" name="Text 29"/>
          <p:cNvSpPr/>
          <p:nvPr/>
        </p:nvSpPr>
        <p:spPr>
          <a:xfrm>
            <a:off x="8524951" y="4133088"/>
            <a:ext cx="27980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spc="200" kern="0" dirty="0">
                <a:solidFill>
                  <a:srgbClr val="97A0A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BUILT ON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323783" y="4498848"/>
            <a:ext cx="2871216" cy="106070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5A647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FastAPI brain over OpenRouter · n8n · Telegram · ElevenLabs voice · emotion gate.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7A0AD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 · the architecture is not accidental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0D1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" y="1005840"/>
            <a:ext cx="201168" cy="201168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1161288" y="1005840"/>
            <a:ext cx="201168" cy="201168"/>
          </a:xfrm>
          <a:prstGeom prst="ellipse">
            <a:avLst/>
          </a:prstGeom>
          <a:solidFill>
            <a:srgbClr val="0891B2"/>
          </a:solidFill>
          <a:ln/>
        </p:spPr>
      </p:sp>
      <p:sp>
        <p:nvSpPr>
          <p:cNvPr id="4" name="Shape 2"/>
          <p:cNvSpPr/>
          <p:nvPr/>
        </p:nvSpPr>
        <p:spPr>
          <a:xfrm>
            <a:off x="1545336" y="1005840"/>
            <a:ext cx="201168" cy="201168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1929384" y="1005840"/>
            <a:ext cx="201168" cy="201168"/>
          </a:xfrm>
          <a:prstGeom prst="ellipse">
            <a:avLst/>
          </a:prstGeom>
          <a:solidFill>
            <a:srgbClr val="E11D48"/>
          </a:solidFill>
          <a:ln/>
        </p:spPr>
      </p:sp>
      <p:sp>
        <p:nvSpPr>
          <p:cNvPr id="6" name="Shape 4"/>
          <p:cNvSpPr/>
          <p:nvPr/>
        </p:nvSpPr>
        <p:spPr>
          <a:xfrm>
            <a:off x="2313432" y="1005840"/>
            <a:ext cx="201168" cy="201168"/>
          </a:xfrm>
          <a:prstGeom prst="ellipse">
            <a:avLst/>
          </a:prstGeom>
          <a:solidFill>
            <a:srgbClr val="64748B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9164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E7E9E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Bring the whole room</a:t>
            </a:r>
            <a:endParaRPr lang="en-US" sz="46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4600" b="1" dirty="0">
                <a:solidFill>
                  <a:srgbClr val="E7E9EC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into your on-call.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777240" y="37033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8000"/>
              </a:lnSpc>
              <a:buNone/>
            </a:pPr>
            <a:r>
              <a:rPr lang="en-US" sz="1800" dirty="0">
                <a:solidFill>
                  <a:srgbClr val="9BA1A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It lives in Telegram — no dashboard to learn. When an alert fires, the agents are already in the room your team checks first.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" y="6291072"/>
            <a:ext cx="10607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spc="100" kern="0" dirty="0">
                <a:solidFill>
                  <a:srgbClr val="9BA1AB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Quorum · built for on-call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Quorum — a room of agents for on-call</dc:title>
  <dc:subject>PptxGenJS Presentation</dc:subject>
  <dc:creator>Quorum</dc:creator>
  <cp:lastModifiedBy>Quorum</cp:lastModifiedBy>
  <cp:revision>1</cp:revision>
  <dcterms:created xsi:type="dcterms:W3CDTF">2026-06-06T20:10:07Z</dcterms:created>
  <dcterms:modified xsi:type="dcterms:W3CDTF">2026-06-06T20:10:07Z</dcterms:modified>
</cp:coreProperties>
</file>